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3657600"/>
          </a:xfrm>
          <a:prstGeom prst="rect">
            <a:avLst/>
          </a:prstGeom>
          <a:solidFill>
            <a:srgbClr val="1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3200400"/>
            <a:ext cx="4873752" cy="36576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274320" y="-4572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FF2D6B"/>
                </a:solidFill>
                <a:latin typeface="Calibri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25603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00E5FF"/>
                </a:solidFill>
                <a:latin typeface="Calibri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5200" b="1" i="0">
                <a:solidFill>
                  <a:srgbClr val="FFFFFF"/>
                </a:solidFill>
                <a:latin typeface="Calibri"/>
              </a:rPr>
              <a:t>لعبة Tic-Tac-Toe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6032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0" i="0">
                <a:solidFill>
                  <a:srgbClr val="7C6AF7"/>
                </a:solidFill>
                <a:latin typeface="Calibri"/>
              </a:rPr>
              <a:t>شرح الكود خطوة بخطوة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7A"/>
                </a:solidFill>
                <a:latin typeface="Calibri"/>
              </a:rPr>
              <a:t>Neon Edition — HTML | CSS | 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7A"/>
                </a:solidFill>
                <a:latin typeface="Calibri"/>
              </a:rPr>
              <a:t>بريزنتيشن تفصيلي — Architecture · Logic · UI · AI · Sound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  <a:latin typeface="Calibri"/>
              </a:rPr>
              <a:t>🗂️  هيكل المشروع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029200" cy="53035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6AF7"/>
                </a:solidFill>
                <a:latin typeface="Calibri"/>
              </a:rPr>
              <a:t>📁 tictactoe/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4663440" cy="41148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4864" cy="41148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282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6B"/>
                </a:solidFill>
                <a:latin typeface="Consolas"/>
              </a:rPr>
              <a:t>📄  index.html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4663440" cy="41148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768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onsolas"/>
              </a:rPr>
              <a:t>🎨  style.css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4663440" cy="41148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54864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onsolas"/>
              </a:rPr>
              <a:t>⚙️   script.js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280160"/>
            <a:ext cx="6035040" cy="10972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1280160"/>
            <a:ext cx="54864" cy="109728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344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2D6B"/>
                </a:solidFill>
                <a:latin typeface="Calibri"/>
              </a:rPr>
              <a:t>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709928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يحتوي على هيكل الصفحة (HTML). بيحدد كل العناصر اللي هتظهر:
البورد، السكور، الأزرار، والـ status banner.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651760"/>
            <a:ext cx="6035040" cy="10972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2651760"/>
            <a:ext cx="54864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7157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00E5FF"/>
                </a:solidFill>
                <a:latin typeface="Calibri"/>
              </a:rPr>
              <a:t>style.css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81528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مسؤول عن الشكل والتصميم بالكامل.
الألوان، الـ animations، التوهج النيون، والـ responsive design.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023360"/>
            <a:ext cx="6035040" cy="10972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4023360"/>
            <a:ext cx="54864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0873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02C39A"/>
                </a:solidFill>
                <a:latin typeface="Calibri"/>
              </a:rPr>
              <a:t>script.js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453128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المنطق الكامل للعبة:
حركة اللاعبين، كشف الفائز، الـ AI، والـ sound effects.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1" i="0">
                <a:solidFill>
                  <a:srgbClr val="7C6AF7"/>
                </a:solidFill>
                <a:latin typeface="Calibri"/>
              </a:rPr>
              <a:t>الفصل بين الملفات = كود نظيف وسهل الصيانة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2D6B"/>
                </a:solidFill>
                <a:latin typeface="Calibri"/>
              </a:rPr>
              <a:t>📄  index.html — هيكل الصفحة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6B"/>
                </a:solidFill>
                <a:latin typeface="Consolas"/>
              </a:rPr>
              <a:t>&lt;meta charset="UTF-8"&gt;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0241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241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تحديد الترميز العربي والإنجليزي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54864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18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&lt;link rel="stylesheet"&gt;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6184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184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ربط ملف CSS بالصفحة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4884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148840"/>
            <a:ext cx="54864" cy="457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  <a:latin typeface="Consolas"/>
              </a:rPr>
              <a:t>&lt;div class="noise"&gt;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128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128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طبقة تأثير الحبوب (grain) الجمالي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743200"/>
            <a:ext cx="54864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07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onsolas"/>
              </a:rPr>
              <a:t>&lt;div class="mode-bar"&gt;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8072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07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أزرار اختيار الوضع: لاعبان أو ضد CPU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3756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37560"/>
            <a:ext cx="54864" cy="4572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01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6B"/>
                </a:solidFill>
                <a:latin typeface="Consolas"/>
              </a:rPr>
              <a:t>&lt;div class="scoreboard"&gt;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4015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4015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عرض نقاط X و O والتعادلات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54864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959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onsolas"/>
              </a:rPr>
              <a:t>&lt;div class="board" id="board"&gt;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995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995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الشبكة 3×3 — الخلايا بتتولّد بالـ JavaScript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26280"/>
            <a:ext cx="54864" cy="457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90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  <a:latin typeface="Consolas"/>
              </a:rPr>
              <a:t>&lt;script src="script.js"&gt;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5902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5902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تحميل ملف الـ JavaScript في آخر الـ body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7C6AF7"/>
                </a:solidFill>
                <a:latin typeface="Calibri"/>
              </a:rPr>
              <a:t>💡  الـ script يتحمّل في آخر الـ body عشان يلاقي الـ HTML جاهز في الـ DOM قبل ما يشتغل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00E5FF"/>
                </a:solidFill>
                <a:latin typeface="Calibri"/>
              </a:rPr>
              <a:t>🎨  style.css — نظام التصميم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486400" cy="49377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" cy="49377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AF7"/>
                </a:solidFill>
                <a:latin typeface="Consolas"/>
              </a:rPr>
              <a:t>:root { CSS Variables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Consolas"/>
              </a:rPr>
              <a:t>--bg: #0a0a0f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لون الخلفية الداكنة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6B"/>
                </a:solidFill>
                <a:latin typeface="Consolas"/>
              </a:rPr>
              <a:t>--x-color: #ff2d6b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لون X النيون الوردي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--o-color: #00e5ff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لون O السيان الكهربائي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  <a:latin typeface="Consolas"/>
              </a:rPr>
              <a:t>--accent: #7c6af7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اللون البنفسجي للتمييز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--cell-size: clamp(…)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7472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حجم الخلية responsive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8F0"/>
                </a:solidFill>
                <a:latin typeface="Consolas"/>
              </a:rPr>
              <a:t>--transition: 0.18s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77639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سرعة كل الـ animations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6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6B"/>
                </a:solidFill>
                <a:latin typeface="Consolas"/>
              </a:rPr>
              <a:t>--font-display: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48056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خط Press Start 2P للعناوين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--font-body: Rajdhani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834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A7A"/>
                </a:solidFill>
                <a:latin typeface="Calibri"/>
              </a:rPr>
              <a:t>←  خط Rajdhani للنصوص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914400"/>
            <a:ext cx="5577840" cy="15087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914400"/>
            <a:ext cx="54864" cy="15087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987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7C6AF7"/>
                </a:solidFill>
                <a:latin typeface="Calibri"/>
              </a:rPr>
              <a:t>CSS Custom Properties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89888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E8E8F0"/>
                </a:solidFill>
                <a:latin typeface="Calibri"/>
              </a:rPr>
              <a:t>بدل ما تكتب اللون في كل مكان، بتعرّفه مرّة واحدة
في :root وبتستخدمه بـ var(--x-color).
لو احتجت تغيّره بتغيّره في مكان واحد بس.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60320"/>
            <a:ext cx="5577840" cy="15087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560320"/>
            <a:ext cx="54864" cy="1508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33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2C39A"/>
                </a:solidFill>
                <a:latin typeface="Calibri"/>
              </a:rPr>
              <a:t>clamp() للـ Responsive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35808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E8E8F0"/>
                </a:solidFill>
                <a:latin typeface="Calibri"/>
              </a:rPr>
              <a:t>clamp(min, ideal, max) بتخلّي الخلية
تتغيّر مع حجم الشاشة تلقائياً بدون media queries
مثال: clamp(85px, 22vw, 130px)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206240"/>
            <a:ext cx="5577840" cy="15087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206240"/>
            <a:ext cx="54864" cy="150876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793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2D6B"/>
                </a:solidFill>
                <a:latin typeface="Calibri"/>
              </a:rPr>
              <a:t>CSS Animations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681727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E8E8F0"/>
                </a:solidFill>
                <a:latin typeface="Calibri"/>
              </a:rPr>
              <a:t>@keyframes pop-in: الـ mark بيطلع بـ scale من 0 لـ 1
@keyframes winner-pulse: الخلايا الفايزة بتومض
عشان الـ UX يبقى ممتع وواضح للمستخدم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00E5FF"/>
                </a:solidFill>
                <a:latin typeface="Calibri"/>
              </a:rPr>
              <a:t>💡  استخدام CSS Variables = تصميم متسق وسهل التعديل — غيّر لون X في سطر واحد فقط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02C39A"/>
                </a:solidFill>
                <a:latin typeface="Calibri"/>
              </a:rPr>
              <a:t>⚙️  script.js — معمارية الكود (IIFE Pattern)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120640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" cy="1188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7840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onsolas"/>
              </a:rPr>
              <a:t>(function () {
  'use strict';
  // ... كل الكود
})();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914400"/>
            <a:ext cx="6035040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960120"/>
            <a:ext cx="5760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🔒  ليه IIFE؟
بتلفّ كل الكود جوّاها عشان متتسرّبش
أي متغير لـ window (Global Scope Pollution)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2194560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4864" cy="13716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0487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6B"/>
                </a:solidFill>
                <a:latin typeface="Consolas"/>
              </a:rPr>
              <a:t>AudioEngine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34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يولّد أصوات بـ Web Audio API
بدون ملفات صوت خارجية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2331720"/>
            <a:ext cx="2194560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2331720"/>
            <a:ext cx="54864" cy="1371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40487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FF"/>
                </a:solidFill>
                <a:latin typeface="Consola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834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المصدر الوحيد للحقيقة
كل بيانات اللعبة فيه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7488" y="2331720"/>
            <a:ext cx="2194560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7488" y="2331720"/>
            <a:ext cx="54864" cy="13716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40487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6AF7"/>
                </a:solidFill>
                <a:latin typeface="Consolas"/>
              </a:rPr>
              <a:t>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834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دوال نقية — بتأخذ data
وبترجع نتيجة بدون side effects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2331720"/>
            <a:ext cx="2194560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88352" y="2331720"/>
            <a:ext cx="54864" cy="1371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240487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2C39A"/>
                </a:solidFill>
                <a:latin typeface="Consolas"/>
              </a:rPr>
              <a:t>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834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كل الكتابة على الـ DOM
عمرها ما بتعمل logic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29216" y="2331720"/>
            <a:ext cx="2194560" cy="13716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29216" y="2331720"/>
            <a:ext cx="54864" cy="13716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66376" y="240487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6B"/>
                </a:solidFill>
                <a:latin typeface="Consolas"/>
              </a:rPr>
              <a:t>Game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2834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المنسّق — بيوصّل
Logic + UI مع بعض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8529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8529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28529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2" y="28529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31920"/>
            <a:ext cx="11430000" cy="7315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onsolas"/>
              </a:rPr>
              <a:t>  'use strict'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0233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 b="0" i="0">
                <a:solidFill>
                  <a:srgbClr val="E8E8F0"/>
                </a:solidFill>
                <a:latin typeface="Calibri"/>
              </a:rPr>
              <a:t>تفعيل الـ Strict Mode — بيمنع أخطاء JavaScript الشائعة زي استخدام متغير من غير تعريف، وبيحسّن الـ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46320"/>
            <a:ext cx="11430000" cy="14630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19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7C6AF7"/>
                </a:solidFill>
                <a:latin typeface="Calibri"/>
              </a:rPr>
              <a:t>تدفق اللعبة: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49240"/>
            <a:ext cx="2103120" cy="6858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413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50" b="1" i="0">
                <a:solidFill>
                  <a:srgbClr val="FF2D6B"/>
                </a:solidFill>
                <a:latin typeface="Calibri"/>
              </a:rPr>
              <a:t>المستخدم يضغط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532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61488" y="5349240"/>
            <a:ext cx="2103120" cy="6858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07208" y="5413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50" b="1" i="0">
                <a:solidFill>
                  <a:srgbClr val="02C39A"/>
                </a:solidFill>
                <a:latin typeface="Calibri"/>
              </a:rPr>
              <a:t>Game.handleMove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64608" y="5532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65776" y="5349240"/>
            <a:ext cx="2103120" cy="6858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11496" y="5413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50" b="1" i="0">
                <a:solidFill>
                  <a:srgbClr val="7C6AF7"/>
                </a:solidFill>
                <a:latin typeface="Calibri"/>
              </a:rPr>
              <a:t>Logic.checkWinner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8896" y="5532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0064" y="5349240"/>
            <a:ext cx="2103120" cy="6858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15784" y="5413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50" b="1" i="0">
                <a:solidFill>
                  <a:srgbClr val="00E5FF"/>
                </a:solidFill>
                <a:latin typeface="Calibri"/>
              </a:rPr>
              <a:t>UI.markCell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3184" y="5532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7A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74352" y="5349240"/>
            <a:ext cx="2103120" cy="6858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20072" y="54132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50" b="1" i="0">
                <a:solidFill>
                  <a:srgbClr val="FF2D6B"/>
                </a:solidFill>
                <a:latin typeface="Calibri"/>
              </a:rPr>
              <a:t>State يتحدّث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7C6AF7"/>
                </a:solidFill>
                <a:latin typeface="Calibri"/>
              </a:rPr>
              <a:t>🧠  State Object &amp; DOM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53035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" cy="53035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AF7"/>
                </a:solidFill>
                <a:latin typeface="Consolas"/>
              </a:rPr>
              <a:t>const State = {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6B"/>
                </a:solidFill>
                <a:latin typeface="Consolas"/>
              </a:rPr>
              <a:t>currentPlayer: 'X'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54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من دوره دلوقتي؟ X أو 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671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board: Array(9)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762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الـ 9 خلايا: null أو X أو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24912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889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phase: 'playing'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79806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حالة اللعبة: playing/won/draw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46704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410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  <a:latin typeface="Consolas"/>
              </a:rPr>
              <a:t>winningCombo: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198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أرقام الخلايا الفايزة الـ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68496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03250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8F0"/>
                </a:solidFill>
                <a:latin typeface="Consolas"/>
              </a:rPr>
              <a:t>scores: {X,O,draw}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0416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النقاط المتراكمة بعد كل جولة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90288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6542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6B"/>
                </a:solidFill>
                <a:latin typeface="Consolas"/>
              </a:rPr>
              <a:t>mode: 'pvp'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6634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الوضع: pvp أو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12080"/>
            <a:ext cx="5029200" cy="51206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2760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humanPlayer: 'X'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2852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اللاعب البشري في وضع الـ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914400"/>
            <a:ext cx="5669280" cy="53035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914400"/>
            <a:ext cx="54864" cy="5303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9875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onsolas"/>
              </a:rPr>
              <a:t>const DOM = {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481328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536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board: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153619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الشبكة 3×3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002536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0574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  <a:latin typeface="Consolas"/>
              </a:rPr>
              <a:t>statusBanner: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0574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لافتة الحالة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523744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5786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6B"/>
                </a:solidFill>
                <a:latin typeface="Consolas"/>
              </a:rPr>
              <a:t>statusText: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5786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نص الحالة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44952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09981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scoreX/O/Draw: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0998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عرض النقاط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566160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62102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6B"/>
                </a:solidFill>
                <a:latin typeface="Consolas"/>
              </a:rPr>
              <a:t>scoreCardX/O: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6210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بطاقات النقاط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087368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4223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onsolas"/>
              </a:rPr>
              <a:t>btnRestart: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142231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زرار إعادة اللعب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608576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663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  <a:latin typeface="Consolas"/>
              </a:rPr>
              <a:t>btnResetScore: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66344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زرار مسح النقاط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129783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184647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btnPvP/AI: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5184647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أزرار اختيار الوضع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5650992"/>
            <a:ext cx="5394960" cy="420624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705855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8F0"/>
                </a:solidFill>
                <a:latin typeface="Consolas"/>
              </a:rPr>
              <a:t>cells: []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705855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E8E8F0"/>
                </a:solidFill>
                <a:latin typeface="Calibri"/>
              </a:rPr>
              <a:t>مصفوفة الـ 9 خلايا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7C6AF7"/>
                </a:solidFill>
                <a:latin typeface="Calibri"/>
              </a:rPr>
              <a:t>💡  بنعمل Cache للـ DOM Elements مرّة واحدة عند البداية — أسرع من إننا نعمل getElementById في كل مرّة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2D6B"/>
                </a:solidFill>
                <a:latin typeface="Calibri"/>
              </a:rPr>
              <a:t>🏆  Logic.checkWinner — كيف نكشف الفائز؟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005840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0058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377440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3774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377440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3774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749039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749039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749039"/>
            <a:ext cx="1234440" cy="12344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39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5A7A"/>
                </a:solidFill>
                <a:latin typeface="Calibri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005840"/>
            <a:ext cx="1234440" cy="1234440"/>
          </a:xfrm>
          <a:prstGeom prst="rect">
            <a:avLst/>
          </a:prstGeom>
          <a:solidFill>
            <a:srgbClr val="2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0058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2D6B"/>
                </a:solidFill>
                <a:latin typeface="Calibri"/>
              </a:rPr>
              <a:t>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005840"/>
            <a:ext cx="1234440" cy="1234440"/>
          </a:xfrm>
          <a:prstGeom prst="rect">
            <a:avLst/>
          </a:prstGeom>
          <a:solidFill>
            <a:srgbClr val="2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10058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2D6B"/>
                </a:solidFill>
                <a:latin typeface="Calibri"/>
              </a:rPr>
              <a:t>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1005840"/>
            <a:ext cx="1234440" cy="1234440"/>
          </a:xfrm>
          <a:prstGeom prst="rect">
            <a:avLst/>
          </a:prstGeom>
          <a:solidFill>
            <a:srgbClr val="2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10058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2D6B"/>
                </a:solidFill>
                <a:latin typeface="Calibri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2D6B"/>
                </a:solidFill>
                <a:latin typeface="Calibri"/>
              </a:rPr>
              <a:t>مثال: الصف الأول
[0, 1, 2] فايز!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6858000" cy="51206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914400"/>
            <a:ext cx="54864" cy="512064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987552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2D6B"/>
                </a:solidFill>
                <a:latin typeface="Calibri"/>
              </a:rPr>
              <a:t>WIN_COMBOS — كل الاحتمالات الممكنة: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1508760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1572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6B"/>
                </a:solidFill>
                <a:latin typeface="Consolas"/>
              </a:rPr>
              <a:t>[0, 1,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1572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الصف الأول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2057400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121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6B"/>
                </a:solidFill>
                <a:latin typeface="Consolas"/>
              </a:rPr>
              <a:t>[3, 4, 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1214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الصف الثاني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60" y="2606039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267004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6B"/>
                </a:solidFill>
                <a:latin typeface="Consolas"/>
              </a:rPr>
              <a:t>[6, 7, 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67004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الصف الثالث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3154679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32186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[0, 3, 6]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21868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العمود الأول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3703320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3767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[1, 4, 7]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7673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العمود الثاني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6360" y="4251960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43159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nsolas"/>
              </a:rPr>
              <a:t>[2, 5, 8]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3159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العمود الثالث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66360" y="4800600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48646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AF7"/>
                </a:solidFill>
                <a:latin typeface="Consolas"/>
              </a:rPr>
              <a:t>[0, 4, 8]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646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القطر الرئيسي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66360" y="5349240"/>
            <a:ext cx="6583680" cy="45720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0" y="54132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AF7"/>
                </a:solidFill>
                <a:latin typeface="Consolas"/>
              </a:rPr>
              <a:t>[2, 4, 6]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413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القطر الثانوي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2D6B"/>
                </a:solidFill>
                <a:latin typeface="Consolas"/>
              </a:rPr>
              <a:t>💡  الفكرة: لو board[a] == board[b] == board[c] وكلهم مش null → في فايز!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00E5FF"/>
                </a:solidFill>
                <a:latin typeface="Calibri"/>
              </a:rPr>
              <a:t>🤖  الذكاء الاصطناعي — Minimax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7840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50" b="0" i="0">
                <a:solidFill>
                  <a:srgbClr val="E8E8F0"/>
                </a:solidFill>
                <a:latin typeface="Calibri"/>
              </a:rPr>
              <a:t>فكرة Minimax: الـ CPU بيجرّب كل حركة ممكنة في المستقبل ويتخيّل أفضل ردّ من اللاعب البشري، وبيختار الحركة اللي بتضمنله أحسن نتيجة حتى في أسوأ سيناريو.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103120"/>
            <a:ext cx="1554480" cy="64008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2148839"/>
            <a:ext cx="146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5A5A7A"/>
                </a:solidFill>
                <a:latin typeface="Calibri"/>
              </a:rPr>
              <a:t>Board
الحالي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200400"/>
            <a:ext cx="1371600" cy="59436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3246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5A5A7A"/>
                </a:solidFill>
                <a:latin typeface="Calibri"/>
              </a:rPr>
              <a:t>حركة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3200400"/>
            <a:ext cx="1371600" cy="59436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3246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5A5A7A"/>
                </a:solidFill>
                <a:latin typeface="Calibri"/>
              </a:rPr>
              <a:t>حركة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200400"/>
            <a:ext cx="1371600" cy="594360"/>
          </a:xfrm>
          <a:prstGeom prst="rect">
            <a:avLst/>
          </a:prstGeom>
          <a:solidFill>
            <a:srgbClr val="1A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246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5A5A7A"/>
                </a:solidFill>
                <a:latin typeface="Calibri"/>
              </a:rPr>
              <a:t>حركة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89120"/>
            <a:ext cx="1188720" cy="548640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02C39A"/>
                </a:solidFill>
                <a:latin typeface="Calibri"/>
              </a:rPr>
              <a:t>+10 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389120"/>
            <a:ext cx="1188720" cy="548640"/>
          </a:xfrm>
          <a:prstGeom prst="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FF2D6B"/>
                </a:solidFill>
                <a:latin typeface="Calibri"/>
              </a:rPr>
              <a:t>-10 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389120"/>
            <a:ext cx="118872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5A5A7A"/>
                </a:solidFill>
                <a:latin typeface="Calibri"/>
              </a:rPr>
              <a:t>0 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389120"/>
            <a:ext cx="1188720" cy="548640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02C39A"/>
                </a:solidFill>
                <a:latin typeface="Calibri"/>
              </a:rPr>
              <a:t>+10 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389120"/>
            <a:ext cx="1188720" cy="548640"/>
          </a:xfrm>
          <a:prstGeom prst="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FF2D6B"/>
                </a:solidFill>
                <a:latin typeface="Calibri"/>
              </a:rPr>
              <a:t>-10 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4389120"/>
            <a:ext cx="118872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4434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5A5A7A"/>
                </a:solidFill>
                <a:latin typeface="Calibri"/>
              </a:rPr>
              <a:t>0 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6974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6974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A7A"/>
                </a:solidFill>
                <a:latin typeface="Calibri"/>
              </a:rPr>
              <a:t>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023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023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023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023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023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4023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12080"/>
            <a:ext cx="2743200" cy="6400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852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2D6B"/>
                </a:solidFill>
                <a:latin typeface="Consolas"/>
              </a:rPr>
              <a:t>+10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3218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الـ CPU (O) ربح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79" y="5212080"/>
            <a:ext cx="2743200" cy="6400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52852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FF"/>
                </a:solidFill>
                <a:latin typeface="Consolas"/>
              </a:rPr>
              <a:t>-10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3218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اللاعب (X) ربح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212080"/>
            <a:ext cx="2743200" cy="6400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2852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6AF7"/>
                </a:solidFill>
                <a:latin typeface="Consolas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3218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تعادل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00E5FF"/>
                </a:solidFill>
                <a:latin typeface="Calibri"/>
              </a:rPr>
              <a:t>💡  Alpha-Beta Pruning: بتقطع الفروع اللي مش هتأثر على النتيجة → أسرع بكتير!  |  النتيجة: CPU لا يُهزم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02C39A"/>
                </a:solidFill>
                <a:latin typeface="Calibri"/>
              </a:rPr>
              <a:t>UI Module — تحديث الـ 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54864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9669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2C39A"/>
                </a:solidFill>
                <a:latin typeface="Consolas"/>
              </a:rPr>
              <a:t>renderBoard()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99669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بتمسح الشبكة وبتعيد إنشاء الـ 9 خلايا من الصفر.
بتحط listener على كل خلية لـ Game.handleMove()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00784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00784"/>
            <a:ext cx="54864" cy="6858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2D6B"/>
                </a:solidFill>
                <a:latin typeface="Consolas"/>
              </a:rPr>
              <a:t>markCell(index, 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647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بتحط X أو O في خلية معيّنة.
بتضيف CSS class عشان يظهر اللون والـ animation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54864" cy="685800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328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E8F0"/>
                </a:solidFill>
                <a:latin typeface="Consolas"/>
              </a:rPr>
              <a:t>disableBoard()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3288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بتضيف class 'disabled' على كل الخلايا.
بتمنع أي كليك تاني بعد انتهاء اللعبة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36976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36976"/>
            <a:ext cx="54864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009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5FF"/>
                </a:solidFill>
                <a:latin typeface="Consolas"/>
              </a:rPr>
              <a:t>highlightWinners()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0098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بتاخد الـ 3 indices الفايزين.
بتضيف class 'winner-x' أو 'winner-o' عليهم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05072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54864" cy="6858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C6AF7"/>
                </a:solidFill>
                <a:latin typeface="Consolas"/>
              </a:rPr>
              <a:t>updateStatus()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بتحدّث نص الـ banner وكلاساته.
بتشوف phase وتكتب: 'فازّ X' أو 'دور O' أو 'تعادل'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73168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73168"/>
            <a:ext cx="54864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371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2C39A"/>
                </a:solidFill>
                <a:latin typeface="Consolas"/>
              </a:rPr>
              <a:t>updateScores()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8371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بتنسّق مع State.scores وتكتب الأرقام
على الشاشة مباشرةً بـ textContent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41264"/>
            <a:ext cx="11430000" cy="685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541264"/>
            <a:ext cx="54864" cy="6858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052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2D6B"/>
                </a:solidFill>
                <a:latin typeface="Consolas"/>
              </a:rPr>
              <a:t>updateActiveCard()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6052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بتضيف glow على بطاقة اللاعب الحالي.
بتشيل الـ glow من البطاقة التانية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02C39A"/>
                </a:solidFill>
                <a:latin typeface="Calibri"/>
              </a:rPr>
              <a:t>💡  UI بيشوف من State ولكن مش بيعدّل فيه — فصل واضح بين المسؤوليات (Separation of Concerns)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7C6AF7"/>
                </a:solidFill>
                <a:latin typeface="Calibri"/>
              </a:rPr>
              <a:t>🔊  AudioEngine — أصوات بدون ملفات!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11887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" cy="1188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7840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E8F0"/>
                </a:solidFill>
                <a:latin typeface="Calibri"/>
              </a:rPr>
              <a:t>Web Audio API هو API موجود في كل المتصفحات. بنقدر نولّد أصوات رياضياً بدون أي ملفات mp3 أو wav. الصوت بيتولّد من oscillator (موجة صوتية) بتشتغل لفترة قصيرة جداً.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6400800" cy="3200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54864" cy="32004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37744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>const ctx = new AudioContext();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7860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>const osc  = ctx.createOscillator();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7977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>const gain = ctx.createGain();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98094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8211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FF"/>
                </a:solidFill>
                <a:latin typeface="Consolas"/>
              </a:rPr>
              <a:t>osc.connect(gain);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8328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6AF7"/>
                </a:solidFill>
                <a:latin typeface="Consolas"/>
              </a:rPr>
              <a:t>gain.connect(ctx.destination);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58444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78561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nsolas"/>
              </a:rPr>
              <a:t>osc.type = 'sine';          // شكل الموجة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98678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FF"/>
                </a:solidFill>
                <a:latin typeface="Consolas"/>
              </a:rPr>
              <a:t>osc.frequency.setValueAtTime(440, ctx.currentTime);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18795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38912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6AF7"/>
                </a:solidFill>
                <a:latin typeface="Consolas"/>
              </a:rPr>
              <a:t>gain.gain.exponentialRampToValueAtTime(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59028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nsolas"/>
              </a:rPr>
              <a:t>  0.001, ctx.currentTime + dur  // fade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79145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onsolas"/>
              </a:rPr>
              <a:t>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99262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FF"/>
                </a:solidFill>
                <a:latin typeface="Consolas"/>
              </a:rPr>
              <a:t>osc.start(); osc.stop(ctx.currentTime + dur);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286000"/>
            <a:ext cx="1508760" cy="3200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2286000"/>
            <a:ext cx="54864" cy="320040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6B"/>
                </a:solidFill>
                <a:latin typeface="Consolas"/>
              </a:rPr>
              <a:t>click()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2880360"/>
            <a:ext cx="1325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E8E8F0"/>
                </a:solidFill>
                <a:latin typeface="Calibri"/>
              </a:rPr>
              <a:t>440 Hz — square wave
صوت نقرة عند وضع العلامة
0.07 ثانية بس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286000"/>
            <a:ext cx="1508760" cy="3200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286000"/>
            <a:ext cx="54864" cy="3200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7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  <a:latin typeface="Consolas"/>
              </a:rPr>
              <a:t>win()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880360"/>
            <a:ext cx="1325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E8E8F0"/>
                </a:solidFill>
                <a:latin typeface="Calibri"/>
              </a:rPr>
              <a:t>C5→E5→G5→C6
أربع نغمات صاعدة
فارق 90ms بين كل نغمة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24160" y="2286000"/>
            <a:ext cx="1508760" cy="3200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2286000"/>
            <a:ext cx="54864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FF"/>
                </a:solidFill>
                <a:latin typeface="Consolas"/>
              </a:rPr>
              <a:t>draw()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880360"/>
            <a:ext cx="1325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E8E8F0"/>
                </a:solidFill>
                <a:latin typeface="Calibri"/>
              </a:rPr>
              <a:t>220 Hz — sawtooth
صوت منخفض وحزين
0.3 ثانية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7C6AF7"/>
                </a:solidFill>
                <a:latin typeface="Calibri"/>
              </a:rPr>
              <a:t>💡  Lazy Init: الـ AudioContext بيتعمل أول ما المستخدم يضغط فقط — عشان المتصفحات بتمنع الصوت قبل التفاعل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2D6B"/>
                </a:solidFill>
                <a:latin typeface="Calibri"/>
              </a:rPr>
              <a:t>🎮  Game.handleMove — رحلة كل نقرة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914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33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6B"/>
                </a:solidFill>
                <a:latin typeface="Consolas"/>
              </a:rPr>
              <a:t>Guard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24128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هل الخلية فاضية؟
هل اللعبة لسه شغّالة؟
هل دور البشر مش الـ CPU؟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74519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1430000" cy="914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194560"/>
            <a:ext cx="640080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30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onsolas"/>
              </a:rPr>
              <a:t>placeMarker(index)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21408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تحديث State.board[index]
استدعاء UI.markCell()
تشغيل صوت الكليك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97180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11430000" cy="914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291840"/>
            <a:ext cx="640080" cy="64008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278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6AF7"/>
                </a:solidFill>
                <a:latin typeface="Consolas"/>
              </a:rPr>
              <a:t>Logic.checkWinner()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18688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فحص الـ 8 combinations
لو في فائز: حفظ النتيجة
تحديث النقاط والـ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06908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11430000" cy="914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389120"/>
            <a:ext cx="64008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3251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onsolas"/>
              </a:rPr>
              <a:t>Logic.checkDraw()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15968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لو كل الخلايا امتلت
ومفيش فائز → تعادل
تشغيل صوت التعادل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516636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7A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49240"/>
            <a:ext cx="11430000" cy="9144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486400"/>
            <a:ext cx="640080" cy="64008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486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0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223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2D6B"/>
                </a:solidFill>
                <a:latin typeface="Consolas"/>
              </a:rPr>
              <a:t>Switch Player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13248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قلب currentPlayer
من X لـ O والعكس
تحديث الـ banner والـ glow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  <a:latin typeface="Calibri"/>
              </a:rPr>
              <a:t>🎓  ملخّص — إيه اللي اتعلّمته؟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" cy="105156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2D6B"/>
                </a:solidFill>
                <a:latin typeface="Calibri"/>
              </a:rPr>
              <a:t>HTML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Semantic HTML، ربط الملفات، تحميل الـ Scripts صح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" cy="1051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7899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0E5FF"/>
                </a:solidFill>
                <a:latin typeface="Calibri"/>
              </a:rPr>
              <a:t>CSS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Design Tokens، Responsive بـ clamp()، Animations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54864" cy="10515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7C6AF7"/>
                </a:solidFill>
                <a:latin typeface="Calibri"/>
              </a:rPr>
              <a:t>IIFE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157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حماية الـ Global Scope، تنظيم الكود في Modules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12848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212848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2C39A"/>
                </a:solidFill>
                <a:latin typeface="Calibri"/>
              </a:rPr>
              <a:t>State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157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Single Source of Truth — كل البيانات في مكان واحد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19856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19856"/>
            <a:ext cx="54864" cy="1051560"/>
          </a:xfrm>
          <a:prstGeom prst="rect">
            <a:avLst/>
          </a:prstGeom>
          <a:solidFill>
            <a:srgbClr val="F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9300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2D6B"/>
                </a:solidFill>
                <a:latin typeface="Calibri"/>
              </a:rPr>
              <a:t>DOM Manipulation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2277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Cache المراجع، تحديثات جراحية بدون إعادة رسم كاملة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19856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419856"/>
            <a:ext cx="54864" cy="1051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9300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0E5FF"/>
                </a:solidFill>
                <a:latin typeface="Calibri"/>
              </a:rPr>
              <a:t>Minimax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2277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Algorithm الذكاء الاصطناعي + Alpha-Beta Pruning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26864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626864"/>
            <a:ext cx="54864" cy="10515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0001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7C6AF7"/>
                </a:solidFill>
                <a:latin typeface="Calibri"/>
              </a:rPr>
              <a:t>Web Audio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978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توليد أصوات رياضياً بدون ملفات خارجية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626864"/>
            <a:ext cx="5577840" cy="10515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626864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70001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02C39A"/>
                </a:solidFill>
                <a:latin typeface="Calibri"/>
              </a:rPr>
              <a:t>Clean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2978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E8E8F0"/>
                </a:solidFill>
                <a:latin typeface="Calibri"/>
              </a:rPr>
              <a:t>Pure Functions، Separation of Concerns، Comments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97880"/>
            <a:ext cx="11430000" cy="86868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618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7C6AF7"/>
                </a:solidFill>
                <a:latin typeface="Calibri"/>
              </a:rPr>
              <a:t>💼  Portfolio Tip: المشروع ده بيوضّح إنك فاهم Architecture، Clean Code، Algorithms، و UX — حطّه على GitHub مع README كويّس!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